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515" r:id="rId2"/>
    <p:sldId id="1511" r:id="rId3"/>
    <p:sldId id="1516" r:id="rId4"/>
    <p:sldId id="151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F3C"/>
    <a:srgbClr val="81B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BC611-1100-47AA-A979-D7EA47CDC7F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97A06-5E52-4DED-BB2F-BB30121A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8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6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B5878-40D4-AE43-DEAE-E378037CE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F48C2-F43D-C063-CDEF-4CBC6578A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DFEAA-4E68-B57E-2BA9-783654CF7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1FA1A-A6E6-E83C-FF90-0E4BD81A0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11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43D10-E26F-EF98-FF9E-9E2E29D9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8C68A-B037-0BED-D0D2-87CFAD6D3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8C9DB-E63D-4C70-26B2-55EF95203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0A68D-0650-EB22-322F-EA556B04B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64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54D6-FB78-A85B-127C-D4A523C35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28EAC-4D84-699F-56DF-F1675C890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0D5C9-D890-6C10-7584-4363D1B4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5E516-0B9F-80A9-F810-6CD1D7DB1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A6662-23BE-BF26-7043-085B8E94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4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72DA-3A70-1AB5-E2F6-2034084E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519F9-ECE0-B246-4B30-59D292544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E2A6F-3FBB-592F-BA1D-551EED392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75D7D-C426-9816-CE7F-DC70FFB4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24B9A-4D52-D937-7726-42E6CB9B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2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24ED-13A0-9FF9-7BD7-5B35CCEBC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12BBD-A7B2-6BC7-402A-24033474F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46702-4C18-ABBA-0079-532DCCB10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6E398-0834-1DF4-5C32-46CA6973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A47B0-7498-8BB4-D782-E188FE72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2A25A-09FF-2C5F-7229-5B662F58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6B2CC-E089-B386-DFF2-E6B1AF2BF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BB162-DBFF-8EC8-70B6-21AD3C559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FF01C-0F87-65D0-0DB1-DEA4AEC42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BA0D4-C1FD-298D-5B2B-6C50DE52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411E0-A9AB-0AFE-D287-DC33BF62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1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C5AF-94D9-34E1-B4CC-C4830298C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482ED-B632-64E9-AED5-5CDA7A7CD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5C9B1-B0DB-0335-CBE6-87DF00019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77A83-61C9-D47C-16BA-DB1E54ABC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65280E-E372-0CBB-7D81-6CEE445C3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F4C61E-C2C8-8D12-49F5-B6DB9C7F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737B09-D0C8-0FBC-3180-FA3A0CB34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2B5590-8C8D-B075-0384-E289B060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6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7CAF-879E-19A9-03D7-01D417ABC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5B3B5-14AA-78CD-6AD0-7CE2C9C4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CA442-8D5B-153C-6656-F3061CFA2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92E07-08E7-B494-F642-D3384440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83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04869-2720-A8C9-BC23-002BDA82E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F893C-722D-1628-8492-AC0D7C9C7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6D2FF-5E6E-EA5E-ABF8-FE76AE79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57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DB58-0198-3661-24C6-61CC06AC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927C0-4C85-2C71-34FE-08705E6E6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B6BE9-5E4F-D2F5-F22A-7CA24B93E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C1219-9C42-FA5F-6500-0DFFB6085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573E8-0085-A989-41A3-514B749A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49566-BE44-230B-AF0D-AD03D1A8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09F9-2564-872E-F373-541AFE00E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DC3E9-CBA2-1416-DEF8-DDF9A66C2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0EC8D-01CA-D1CD-E7FB-C639148D6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38814-E98C-FDB9-6B71-C9251DF4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5AB34-1DA4-E9AA-5546-7040DBD1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DD424-EB3C-0A70-6D1B-6AC2325AB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0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61A64-4E68-B285-6CD3-4D821D05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DE749-5ED5-9CD9-B74D-6E1300B7A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8B32C-9A67-8D54-B862-CC83B09D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19953-8BE1-00EF-A746-11EA5270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5C23E-454F-9DAB-654C-1DF8B3AB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68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8F1412-6305-8C6B-F01D-9B10825BC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4BEC9-AFF9-30E1-3B1D-E9A70E6F6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D86D0-4D3E-324D-C140-640221FD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D5CDC-C593-73FD-ACD5-AC566CDDF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BCC2A-1254-1997-123D-F6BEE029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19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2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22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C5A5B-3309-3C4D-B97A-F3AD47EEC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F333C-0FC7-AEC1-D6F6-30EDE5155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8440F-91A9-7348-2C56-A97E00466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68446A-AF84-4289-BEBF-3881C739107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7D049-F4D0-B115-B8C9-ACED03BE0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6A178-58AD-98F1-DB9F-2AC148F94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F7BCF-B02F-484B-981B-EDFF7BC0C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8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jsalatas.ictpro.gr/implementation-of-competitive-learning-networks-for-weka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F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C9A8B-5A9F-A0DE-6D56-8BB6D579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5242A8-D0FA-2783-6AF7-88454CC24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3649" y="1713905"/>
            <a:ext cx="7984702" cy="152823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Nolan Pestano at </a:t>
            </a:r>
            <a:r>
              <a:rPr lang="en-US" sz="6000" dirty="0">
                <a:solidFill>
                  <a:srgbClr val="084F8F"/>
                </a:solidFill>
              </a:rPr>
              <a:t>Emerson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496DE24-08DC-806D-F07B-C467037E6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2198" y="3398595"/>
            <a:ext cx="687603" cy="317757"/>
          </a:xfrm>
        </p:spPr>
        <p:txBody>
          <a:bodyPr>
            <a:noAutofit/>
          </a:bodyPr>
          <a:lstStyle/>
          <a:p>
            <a:r>
              <a:rPr lang="en-US" sz="800" b="1" i="1" dirty="0">
                <a:solidFill>
                  <a:srgbClr val="DADBDF"/>
                </a:solidFill>
              </a:rPr>
              <a:t>Q1-&gt;Today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B5BF9F-58A7-82C2-68C0-F0A7E2169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039" y="3985128"/>
            <a:ext cx="1287682" cy="152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merson Electric - Wikipedia">
            <a:extLst>
              <a:ext uri="{FF2B5EF4-FFF2-40B4-BE49-F238E27FC236}">
                <a16:creationId xmlns:a16="http://schemas.microsoft.com/office/drawing/2014/main" id="{9BBCE28D-00E0-25F7-D224-3ABCBA5D8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809" y="3985128"/>
            <a:ext cx="2960389" cy="130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A6D50CF0-C03B-5E43-B5B3-C0B7262FC162}"/>
              </a:ext>
            </a:extLst>
          </p:cNvPr>
          <p:cNvSpPr txBox="1">
            <a:spLocks/>
          </p:cNvSpPr>
          <p:nvPr/>
        </p:nvSpPr>
        <p:spPr>
          <a:xfrm>
            <a:off x="5494373" y="4320072"/>
            <a:ext cx="1203251" cy="6326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>
                <a:solidFill>
                  <a:srgbClr val="FFFFFF"/>
                </a:solidFill>
              </a:rPr>
              <a:t>X</a:t>
            </a:r>
            <a:endParaRPr lang="en-US" sz="6000" dirty="0">
              <a:solidFill>
                <a:srgbClr val="08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488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575" y="159707"/>
            <a:ext cx="4590304" cy="2770814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Continued Robocorp </a:t>
            </a:r>
            <a:r>
              <a:rPr lang="en-US" dirty="0">
                <a:solidFill>
                  <a:srgbClr val="81BBCA"/>
                </a:solidFill>
              </a:rPr>
              <a:t>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None/>
            </a:pPr>
            <a:r>
              <a:rPr lang="en-US" sz="1800" b="1" dirty="0">
                <a:solidFill>
                  <a:srgbClr val="81BBCA"/>
                </a:solidFill>
              </a:rPr>
              <a:t>Rewrote Authentications</a:t>
            </a:r>
          </a:p>
          <a:p>
            <a:pPr marL="0" lvl="1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</a:rPr>
              <a:t>The bots struggled on connecting to MSGraph APIs– I rewrote changes to the way they communicate and log-in to Microsoft.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None/>
            </a:pPr>
            <a:r>
              <a:rPr lang="en-US" sz="1800" b="1" dirty="0">
                <a:solidFill>
                  <a:srgbClr val="81BBCA"/>
                </a:solidFill>
              </a:rPr>
              <a:t>Bug fixes for the Bots</a:t>
            </a:r>
          </a:p>
          <a:p>
            <a:pPr marL="0" lvl="1" indent="0">
              <a:lnSpc>
                <a:spcPct val="110000"/>
              </a:lnSpc>
              <a:buNone/>
            </a:pPr>
            <a:r>
              <a:rPr lang="en-US" b="1" i="1" dirty="0">
                <a:solidFill>
                  <a:srgbClr val="FFFFFF"/>
                </a:solidFill>
              </a:rPr>
              <a:t>All</a:t>
            </a:r>
            <a:r>
              <a:rPr lang="en-US" dirty="0">
                <a:solidFill>
                  <a:srgbClr val="FFFFFF"/>
                </a:solidFill>
              </a:rPr>
              <a:t> bots are now running independently, with no human input, without errors! </a:t>
            </a:r>
            <a:endParaRPr lang="en-US" b="1" i="1" dirty="0">
              <a:solidFill>
                <a:srgbClr val="FFFFF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2500"/>
              </a:spcBef>
              <a:buNone/>
            </a:pPr>
            <a:r>
              <a:rPr lang="en-US" sz="1800" b="1" dirty="0">
                <a:solidFill>
                  <a:srgbClr val="81BBCA"/>
                </a:solidFill>
              </a:rPr>
              <a:t>Enabled smoother future updates</a:t>
            </a:r>
          </a:p>
          <a:p>
            <a:pPr marL="0" lvl="1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</a:rPr>
              <a:t>Identified fragile dependencies (UI, file paths, 	, etc.) and redesigned those parts to be more resilient to change.</a:t>
            </a:r>
          </a:p>
        </p:txBody>
      </p:sp>
      <p:pic>
        <p:nvPicPr>
          <p:cNvPr id="1026" name="Picture 2" descr="Robocorp Code - Visual Studio Marketplace">
            <a:extLst>
              <a:ext uri="{FF2B5EF4-FFF2-40B4-BE49-F238E27FC236}">
                <a16:creationId xmlns:a16="http://schemas.microsoft.com/office/drawing/2014/main" id="{6ECA89B7-1B4F-726F-DB32-BECCF8659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75" y="3321423"/>
            <a:ext cx="1651000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thon (programming language) - Wikipedia">
            <a:extLst>
              <a:ext uri="{FF2B5EF4-FFF2-40B4-BE49-F238E27FC236}">
                <a16:creationId xmlns:a16="http://schemas.microsoft.com/office/drawing/2014/main" id="{0F39450C-17D8-6157-53F9-058B57C0D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745" y="3321423"/>
            <a:ext cx="1778000" cy="177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18EA1A-CB06-D944-8831-526B054A25DC}"/>
              </a:ext>
            </a:extLst>
          </p:cNvPr>
          <p:cNvCxnSpPr>
            <a:cxnSpLocks/>
          </p:cNvCxnSpPr>
          <p:nvPr/>
        </p:nvCxnSpPr>
        <p:spPr>
          <a:xfrm>
            <a:off x="2405414" y="4254499"/>
            <a:ext cx="80949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F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16FBF-FCAC-0D44-EC17-F132F9DD6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E168E-64AB-A61D-1445-3908DEBCD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6382" y="-46653"/>
            <a:ext cx="4590304" cy="2770814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Future-Proofed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81BBCA"/>
                </a:solidFill>
              </a:rPr>
              <a:t>Knowledge Transfers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6C8BE-B641-909A-ACD1-B92AAAAC2E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781" y="830803"/>
            <a:ext cx="6153623" cy="552334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None/>
            </a:pPr>
            <a:r>
              <a:rPr lang="en-US" sz="1800" b="1" dirty="0">
                <a:solidFill>
                  <a:srgbClr val="81BBCA"/>
                </a:solidFill>
              </a:rPr>
              <a:t>Daily Knowledge Transfers with Fatima/Inti</a:t>
            </a:r>
          </a:p>
          <a:p>
            <a:pPr marL="0" lvl="1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</a:rPr>
              <a:t>Sharing </a:t>
            </a:r>
            <a:r>
              <a:rPr lang="en-US" i="1" dirty="0">
                <a:solidFill>
                  <a:srgbClr val="FFFFFF"/>
                </a:solidFill>
              </a:rPr>
              <a:t>everything</a:t>
            </a:r>
            <a:r>
              <a:rPr lang="en-US" dirty="0">
                <a:solidFill>
                  <a:srgbClr val="FFFFFF"/>
                </a:solidFill>
              </a:rPr>
              <a:t> I’ve learned over the past year so they can be fast, blazing developers.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None/>
            </a:pPr>
            <a:r>
              <a:rPr lang="en-US" sz="1800" b="1" dirty="0">
                <a:solidFill>
                  <a:srgbClr val="81BBCA"/>
                </a:solidFill>
              </a:rPr>
              <a:t>Azure DevOps / Documentation</a:t>
            </a:r>
          </a:p>
          <a:p>
            <a:pPr marL="0" lvl="1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</a:rPr>
              <a:t>Built reusable documentation and walkthroughs so future engineers can onboard faster / get acquainted with projects.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None/>
            </a:pPr>
            <a:r>
              <a:rPr lang="en-US" sz="1800" b="1" dirty="0">
                <a:solidFill>
                  <a:srgbClr val="81BBCA"/>
                </a:solidFill>
              </a:rPr>
              <a:t>Focused on knowledge sharing, not task completion</a:t>
            </a:r>
          </a:p>
          <a:p>
            <a:pPr marL="0" lvl="1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</a:rPr>
              <a:t>Hosting handoff sessions, recording demos, and clearly explaining the </a:t>
            </a:r>
            <a:r>
              <a:rPr lang="en-US" i="1" dirty="0">
                <a:solidFill>
                  <a:srgbClr val="FFFFFF"/>
                </a:solidFill>
              </a:rPr>
              <a:t>why</a:t>
            </a:r>
            <a:r>
              <a:rPr lang="en-US" dirty="0">
                <a:solidFill>
                  <a:srgbClr val="FFFFFF"/>
                </a:solidFill>
              </a:rPr>
              <a:t> behind technical decisions to make future improvements easier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1B64FE-A9C7-8581-0BBB-78595E092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71724" y="2566977"/>
            <a:ext cx="2895600" cy="3133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1D5181-1567-3936-BD0D-0291E377B24B}"/>
              </a:ext>
            </a:extLst>
          </p:cNvPr>
          <p:cNvSpPr txBox="1"/>
          <p:nvPr/>
        </p:nvSpPr>
        <p:spPr>
          <a:xfrm>
            <a:off x="7871724" y="5700400"/>
            <a:ext cx="2895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2"/>
                </a:solidFill>
              </a:rPr>
              <a:t>a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629341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F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50A55-AE6D-4EA4-0DE6-A55BD60D7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C90D-D9E7-2711-09F5-F87E92AF7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8" y="0"/>
            <a:ext cx="4590304" cy="2770814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Miscellaneous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81BBCA"/>
                </a:solidFill>
              </a:rPr>
              <a:t>Bug Fixes / Quick Wins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1C27A-D802-ACCF-F634-C4E5931147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288" y="482934"/>
            <a:ext cx="6153623" cy="552334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None/>
            </a:pPr>
            <a:r>
              <a:rPr lang="en-US" sz="1800" b="1" dirty="0">
                <a:solidFill>
                  <a:srgbClr val="81BBCA"/>
                </a:solidFill>
              </a:rPr>
              <a:t>CARs Emails (for Kevin Keen)</a:t>
            </a:r>
          </a:p>
          <a:p>
            <a:pPr marL="0" lvl="1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</a:rPr>
              <a:t>Rewrote the .bat and HTTP calls for smoother executions. Runs every Wednesday now without fail! 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None/>
            </a:pPr>
            <a:r>
              <a:rPr lang="en-US" sz="1800" b="1" dirty="0">
                <a:solidFill>
                  <a:srgbClr val="81BBCA"/>
                </a:solidFill>
              </a:rPr>
              <a:t>Batch Scripting for .mcdx (Michelle Knight / </a:t>
            </a:r>
            <a:r>
              <a:rPr lang="en-US" sz="1800" b="1" dirty="0" err="1">
                <a:solidFill>
                  <a:srgbClr val="81BBCA"/>
                </a:solidFill>
              </a:rPr>
              <a:t>MechE</a:t>
            </a:r>
            <a:r>
              <a:rPr lang="en-US" sz="1800" b="1" dirty="0">
                <a:solidFill>
                  <a:srgbClr val="81BBCA"/>
                </a:solidFill>
              </a:rPr>
              <a:t> team)</a:t>
            </a:r>
          </a:p>
          <a:p>
            <a:pPr marL="0" lvl="1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</a:rPr>
              <a:t>Wrote a shell script to convert their .mcdx </a:t>
            </a:r>
            <a:r>
              <a:rPr lang="en-US" dirty="0" err="1">
                <a:solidFill>
                  <a:srgbClr val="FFFFFF"/>
                </a:solidFill>
              </a:rPr>
              <a:t>Mathdoc</a:t>
            </a:r>
            <a:r>
              <a:rPr lang="en-US" dirty="0">
                <a:solidFill>
                  <a:srgbClr val="FFFFFF"/>
                </a:solidFill>
              </a:rPr>
              <a:t> files to PDF’s all in one click, saving hours of their time.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None/>
            </a:pPr>
            <a:r>
              <a:rPr lang="en-US" sz="1800" b="1" dirty="0" err="1">
                <a:solidFill>
                  <a:srgbClr val="81BBCA"/>
                </a:solidFill>
              </a:rPr>
              <a:t>OnCall</a:t>
            </a:r>
            <a:r>
              <a:rPr lang="en-US" sz="1800" b="1" dirty="0">
                <a:solidFill>
                  <a:srgbClr val="81BBCA"/>
                </a:solidFill>
              </a:rPr>
              <a:t> Updates</a:t>
            </a:r>
          </a:p>
          <a:p>
            <a:pPr marL="0" lvl="1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</a:rPr>
              <a:t>Weekly, smart flow featuring persistent memory of our </a:t>
            </a:r>
            <a:r>
              <a:rPr lang="en-US" dirty="0" err="1">
                <a:solidFill>
                  <a:srgbClr val="FFFFFF"/>
                </a:solidFill>
              </a:rPr>
              <a:t>OnCall</a:t>
            </a:r>
            <a:r>
              <a:rPr lang="en-US" dirty="0">
                <a:solidFill>
                  <a:srgbClr val="FFFFFF"/>
                </a:solidFill>
              </a:rPr>
              <a:t> rotation with accurate notifications.</a:t>
            </a:r>
          </a:p>
        </p:txBody>
      </p:sp>
      <p:pic>
        <p:nvPicPr>
          <p:cNvPr id="2050" name="Picture 2" descr="Computer bug - Free computer icons">
            <a:extLst>
              <a:ext uri="{FF2B5EF4-FFF2-40B4-BE49-F238E27FC236}">
                <a16:creationId xmlns:a16="http://schemas.microsoft.com/office/drawing/2014/main" id="{8E5F1FC2-37FB-19AA-0E48-82388D1A1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76" y="2770814"/>
            <a:ext cx="1991139" cy="199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497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251</Words>
  <Application>Microsoft Office PowerPoint</Application>
  <PresentationFormat>Widescreen</PresentationFormat>
  <Paragraphs>28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Nolan Pestano at Emerson</vt:lpstr>
      <vt:lpstr>Continued Robocorp Maintenance</vt:lpstr>
      <vt:lpstr>Future-Proofed  Knowledge Transfers</vt:lpstr>
      <vt:lpstr>Miscellaneous  Bug Fixes / Quick Wins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Pestano, Nolan [EMR/FCTL/FCV/MTWN]</dc:creator>
  <cp:lastModifiedBy>Pestano, Nolan [EMR/FCTL/FCV/MTWN]</cp:lastModifiedBy>
  <cp:revision>2</cp:revision>
  <dcterms:created xsi:type="dcterms:W3CDTF">2026-02-05T15:41:33Z</dcterms:created>
  <dcterms:modified xsi:type="dcterms:W3CDTF">2026-02-05T16:46:08Z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2026-02-05T16:32:39Z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210e8179-1635-4b16-9002-1a0c0f40bcc2</vt:lpwstr>
  </property>
  <property fmtid="{D5CDD505-2E9C-101B-9397-08002B2CF9AE}" pid="8" name="MSIP_Label_d38901aa-f724-46bf-bb4f-aef09392934b_ContentBits">
    <vt:lpwstr>0</vt:lpwstr>
  </property>
  <property fmtid="{D5CDD505-2E9C-101B-9397-08002B2CF9AE}" pid="9" name="MSIP_Label_d38901aa-f724-46bf-bb4f-aef09392934b_Tag">
    <vt:lpwstr>10, 3, 0, 1</vt:lpwstr>
  </property>
</Properties>
</file>